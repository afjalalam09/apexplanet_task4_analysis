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B6D218-5C22-478C-9C7A-BEEDD070718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9F3CB09-B56C-4709-8254-E5DBA06C27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Goal: </a:t>
          </a:r>
          <a:r>
            <a:rPr lang="en-US"/>
            <a:t>To analyze sales data ($2.26M) and identify revenue growth opportunities.</a:t>
          </a:r>
        </a:p>
      </dgm:t>
    </dgm:pt>
    <dgm:pt modelId="{101CE54A-ADA0-4D7F-8139-E384CB8C4087}" type="parTrans" cxnId="{BD89F5AF-541B-43B3-9052-8214730DD0E2}">
      <dgm:prSet/>
      <dgm:spPr/>
      <dgm:t>
        <a:bodyPr/>
        <a:lstStyle/>
        <a:p>
          <a:endParaRPr lang="en-US"/>
        </a:p>
      </dgm:t>
    </dgm:pt>
    <dgm:pt modelId="{B0A90E53-59D7-44DC-BFC3-BEB772402A6B}" type="sibTrans" cxnId="{BD89F5AF-541B-43B3-9052-8214730DD0E2}">
      <dgm:prSet/>
      <dgm:spPr/>
      <dgm:t>
        <a:bodyPr/>
        <a:lstStyle/>
        <a:p>
          <a:endParaRPr lang="en-US"/>
        </a:p>
      </dgm:t>
    </dgm:pt>
    <dgm:pt modelId="{0AA6C2E3-49A9-4A53-B099-F8E4782316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Approach: </a:t>
          </a:r>
          <a:r>
            <a:rPr lang="en-US"/>
            <a:t>Used Python for Data Cleaning, RFM Segmentation, and Statistical Validation.</a:t>
          </a:r>
        </a:p>
      </dgm:t>
    </dgm:pt>
    <dgm:pt modelId="{913C2B72-67F7-4935-9F62-37995A15DD83}" type="parTrans" cxnId="{916E796D-D8F0-4F73-972A-8E6AB8264E48}">
      <dgm:prSet/>
      <dgm:spPr/>
      <dgm:t>
        <a:bodyPr/>
        <a:lstStyle/>
        <a:p>
          <a:endParaRPr lang="en-US"/>
        </a:p>
      </dgm:t>
    </dgm:pt>
    <dgm:pt modelId="{E9C55C26-DD8A-4490-AE4F-568372AFE455}" type="sibTrans" cxnId="{916E796D-D8F0-4F73-972A-8E6AB8264E48}">
      <dgm:prSet/>
      <dgm:spPr/>
      <dgm:t>
        <a:bodyPr/>
        <a:lstStyle/>
        <a:p>
          <a:endParaRPr lang="en-US"/>
        </a:p>
      </dgm:t>
    </dgm:pt>
    <dgm:pt modelId="{821FB866-920A-48CA-9BF3-9BCA6B5E30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Outcome: </a:t>
          </a:r>
          <a:r>
            <a:rPr lang="en-US"/>
            <a:t>Provide data-driven recommendations to optimize marketing spend and reduce churn.</a:t>
          </a:r>
        </a:p>
      </dgm:t>
    </dgm:pt>
    <dgm:pt modelId="{0D81008A-BEB9-4BD0-A109-1BA43245C5CD}" type="parTrans" cxnId="{572D1341-5EFC-4C0C-A04A-EF665D3B3673}">
      <dgm:prSet/>
      <dgm:spPr/>
      <dgm:t>
        <a:bodyPr/>
        <a:lstStyle/>
        <a:p>
          <a:endParaRPr lang="en-US"/>
        </a:p>
      </dgm:t>
    </dgm:pt>
    <dgm:pt modelId="{6EBF8E76-2F31-420C-8620-35CD9037BF9A}" type="sibTrans" cxnId="{572D1341-5EFC-4C0C-A04A-EF665D3B3673}">
      <dgm:prSet/>
      <dgm:spPr/>
      <dgm:t>
        <a:bodyPr/>
        <a:lstStyle/>
        <a:p>
          <a:endParaRPr lang="en-US"/>
        </a:p>
      </dgm:t>
    </dgm:pt>
    <dgm:pt modelId="{B8B9A884-926D-4091-8728-0A0062075827}" type="pres">
      <dgm:prSet presAssocID="{D8B6D218-5C22-478C-9C7A-BEEDD070718A}" presName="root" presStyleCnt="0">
        <dgm:presLayoutVars>
          <dgm:dir/>
          <dgm:resizeHandles val="exact"/>
        </dgm:presLayoutVars>
      </dgm:prSet>
      <dgm:spPr/>
    </dgm:pt>
    <dgm:pt modelId="{9DCA33AC-7C0B-4259-ADB1-A616214C0138}" type="pres">
      <dgm:prSet presAssocID="{99F3CB09-B56C-4709-8254-E5DBA06C2789}" presName="compNode" presStyleCnt="0"/>
      <dgm:spPr/>
    </dgm:pt>
    <dgm:pt modelId="{6A0E5177-986F-43FF-BCA0-8403D71DE078}" type="pres">
      <dgm:prSet presAssocID="{99F3CB09-B56C-4709-8254-E5DBA06C2789}" presName="bgRect" presStyleLbl="bgShp" presStyleIdx="0" presStyleCnt="3"/>
      <dgm:spPr/>
    </dgm:pt>
    <dgm:pt modelId="{4392CBC3-1616-4976-AFB9-CEC01AF8BFC9}" type="pres">
      <dgm:prSet presAssocID="{99F3CB09-B56C-4709-8254-E5DBA06C278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17EC2F0E-64B0-4523-BEE5-7DDECAEAFB5C}" type="pres">
      <dgm:prSet presAssocID="{99F3CB09-B56C-4709-8254-E5DBA06C2789}" presName="spaceRect" presStyleCnt="0"/>
      <dgm:spPr/>
    </dgm:pt>
    <dgm:pt modelId="{1860870B-FB47-45EA-911F-95DA9130A117}" type="pres">
      <dgm:prSet presAssocID="{99F3CB09-B56C-4709-8254-E5DBA06C2789}" presName="parTx" presStyleLbl="revTx" presStyleIdx="0" presStyleCnt="3">
        <dgm:presLayoutVars>
          <dgm:chMax val="0"/>
          <dgm:chPref val="0"/>
        </dgm:presLayoutVars>
      </dgm:prSet>
      <dgm:spPr/>
    </dgm:pt>
    <dgm:pt modelId="{1C72FFF7-9FE2-4621-BF48-D136D7C392D3}" type="pres">
      <dgm:prSet presAssocID="{B0A90E53-59D7-44DC-BFC3-BEB772402A6B}" presName="sibTrans" presStyleCnt="0"/>
      <dgm:spPr/>
    </dgm:pt>
    <dgm:pt modelId="{AAD7A0EE-B313-4AA7-A8FC-F4FCD4320495}" type="pres">
      <dgm:prSet presAssocID="{0AA6C2E3-49A9-4A53-B099-F8E478231628}" presName="compNode" presStyleCnt="0"/>
      <dgm:spPr/>
    </dgm:pt>
    <dgm:pt modelId="{9377A0E6-BAA2-404A-B730-3E46891D52D5}" type="pres">
      <dgm:prSet presAssocID="{0AA6C2E3-49A9-4A53-B099-F8E478231628}" presName="bgRect" presStyleLbl="bgShp" presStyleIdx="1" presStyleCnt="3"/>
      <dgm:spPr/>
    </dgm:pt>
    <dgm:pt modelId="{C0AC3927-0E65-40AC-9968-E76511072913}" type="pres">
      <dgm:prSet presAssocID="{0AA6C2E3-49A9-4A53-B099-F8E47823162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E3B94029-0F21-4F2D-B167-14CC6161E7BF}" type="pres">
      <dgm:prSet presAssocID="{0AA6C2E3-49A9-4A53-B099-F8E478231628}" presName="spaceRect" presStyleCnt="0"/>
      <dgm:spPr/>
    </dgm:pt>
    <dgm:pt modelId="{E2843B25-46DF-4A92-A769-99FAEF6C9D66}" type="pres">
      <dgm:prSet presAssocID="{0AA6C2E3-49A9-4A53-B099-F8E478231628}" presName="parTx" presStyleLbl="revTx" presStyleIdx="1" presStyleCnt="3">
        <dgm:presLayoutVars>
          <dgm:chMax val="0"/>
          <dgm:chPref val="0"/>
        </dgm:presLayoutVars>
      </dgm:prSet>
      <dgm:spPr/>
    </dgm:pt>
    <dgm:pt modelId="{B9DF5920-335B-418A-82C2-CB7146AE657D}" type="pres">
      <dgm:prSet presAssocID="{E9C55C26-DD8A-4490-AE4F-568372AFE455}" presName="sibTrans" presStyleCnt="0"/>
      <dgm:spPr/>
    </dgm:pt>
    <dgm:pt modelId="{2725EEC6-C32F-4370-8DBC-7D1C3198D65B}" type="pres">
      <dgm:prSet presAssocID="{821FB866-920A-48CA-9BF3-9BCA6B5E3082}" presName="compNode" presStyleCnt="0"/>
      <dgm:spPr/>
    </dgm:pt>
    <dgm:pt modelId="{81F5D05D-2C35-40E6-B60A-3C0C66845F12}" type="pres">
      <dgm:prSet presAssocID="{821FB866-920A-48CA-9BF3-9BCA6B5E3082}" presName="bgRect" presStyleLbl="bgShp" presStyleIdx="2" presStyleCnt="3"/>
      <dgm:spPr/>
    </dgm:pt>
    <dgm:pt modelId="{E61EE1A9-ECA3-4B3B-9F53-1A4653E73451}" type="pres">
      <dgm:prSet presAssocID="{821FB866-920A-48CA-9BF3-9BCA6B5E308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B2769C9D-F0F0-41E1-AD5C-F8C0327DCD83}" type="pres">
      <dgm:prSet presAssocID="{821FB866-920A-48CA-9BF3-9BCA6B5E3082}" presName="spaceRect" presStyleCnt="0"/>
      <dgm:spPr/>
    </dgm:pt>
    <dgm:pt modelId="{F0B623A5-F85F-4B69-AFF1-57BF4A42721D}" type="pres">
      <dgm:prSet presAssocID="{821FB866-920A-48CA-9BF3-9BCA6B5E308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289F40F-6748-4B67-ABC6-F5C1DB571157}" type="presOf" srcId="{0AA6C2E3-49A9-4A53-B099-F8E478231628}" destId="{E2843B25-46DF-4A92-A769-99FAEF6C9D66}" srcOrd="0" destOrd="0" presId="urn:microsoft.com/office/officeart/2018/2/layout/IconVerticalSolidList"/>
    <dgm:cxn modelId="{9CA89A2B-6D3B-4027-87B4-A9739147FB1A}" type="presOf" srcId="{821FB866-920A-48CA-9BF3-9BCA6B5E3082}" destId="{F0B623A5-F85F-4B69-AFF1-57BF4A42721D}" srcOrd="0" destOrd="0" presId="urn:microsoft.com/office/officeart/2018/2/layout/IconVerticalSolidList"/>
    <dgm:cxn modelId="{572D1341-5EFC-4C0C-A04A-EF665D3B3673}" srcId="{D8B6D218-5C22-478C-9C7A-BEEDD070718A}" destId="{821FB866-920A-48CA-9BF3-9BCA6B5E3082}" srcOrd="2" destOrd="0" parTransId="{0D81008A-BEB9-4BD0-A109-1BA43245C5CD}" sibTransId="{6EBF8E76-2F31-420C-8620-35CD9037BF9A}"/>
    <dgm:cxn modelId="{916E796D-D8F0-4F73-972A-8E6AB8264E48}" srcId="{D8B6D218-5C22-478C-9C7A-BEEDD070718A}" destId="{0AA6C2E3-49A9-4A53-B099-F8E478231628}" srcOrd="1" destOrd="0" parTransId="{913C2B72-67F7-4935-9F62-37995A15DD83}" sibTransId="{E9C55C26-DD8A-4490-AE4F-568372AFE455}"/>
    <dgm:cxn modelId="{BD89F5AF-541B-43B3-9052-8214730DD0E2}" srcId="{D8B6D218-5C22-478C-9C7A-BEEDD070718A}" destId="{99F3CB09-B56C-4709-8254-E5DBA06C2789}" srcOrd="0" destOrd="0" parTransId="{101CE54A-ADA0-4D7F-8139-E384CB8C4087}" sibTransId="{B0A90E53-59D7-44DC-BFC3-BEB772402A6B}"/>
    <dgm:cxn modelId="{770F04CB-EAB5-420B-AF54-90E13D86BF4D}" type="presOf" srcId="{99F3CB09-B56C-4709-8254-E5DBA06C2789}" destId="{1860870B-FB47-45EA-911F-95DA9130A117}" srcOrd="0" destOrd="0" presId="urn:microsoft.com/office/officeart/2018/2/layout/IconVerticalSolidList"/>
    <dgm:cxn modelId="{088793E1-61DC-4717-BE55-121E5B235C98}" type="presOf" srcId="{D8B6D218-5C22-478C-9C7A-BEEDD070718A}" destId="{B8B9A884-926D-4091-8728-0A0062075827}" srcOrd="0" destOrd="0" presId="urn:microsoft.com/office/officeart/2018/2/layout/IconVerticalSolidList"/>
    <dgm:cxn modelId="{A6EE6D28-5A0F-4401-BB9B-FF128F5F2587}" type="presParOf" srcId="{B8B9A884-926D-4091-8728-0A0062075827}" destId="{9DCA33AC-7C0B-4259-ADB1-A616214C0138}" srcOrd="0" destOrd="0" presId="urn:microsoft.com/office/officeart/2018/2/layout/IconVerticalSolidList"/>
    <dgm:cxn modelId="{63A7DD7D-AAF8-4496-970B-EA817A1F0C11}" type="presParOf" srcId="{9DCA33AC-7C0B-4259-ADB1-A616214C0138}" destId="{6A0E5177-986F-43FF-BCA0-8403D71DE078}" srcOrd="0" destOrd="0" presId="urn:microsoft.com/office/officeart/2018/2/layout/IconVerticalSolidList"/>
    <dgm:cxn modelId="{6B30193C-58C5-4011-97FD-224EE92E901B}" type="presParOf" srcId="{9DCA33AC-7C0B-4259-ADB1-A616214C0138}" destId="{4392CBC3-1616-4976-AFB9-CEC01AF8BFC9}" srcOrd="1" destOrd="0" presId="urn:microsoft.com/office/officeart/2018/2/layout/IconVerticalSolidList"/>
    <dgm:cxn modelId="{74D9E6E1-C840-4FF5-830A-A8304973E6D6}" type="presParOf" srcId="{9DCA33AC-7C0B-4259-ADB1-A616214C0138}" destId="{17EC2F0E-64B0-4523-BEE5-7DDECAEAFB5C}" srcOrd="2" destOrd="0" presId="urn:microsoft.com/office/officeart/2018/2/layout/IconVerticalSolidList"/>
    <dgm:cxn modelId="{785C82F5-BA2C-4E4C-B7DB-E30B4EF2CF9D}" type="presParOf" srcId="{9DCA33AC-7C0B-4259-ADB1-A616214C0138}" destId="{1860870B-FB47-45EA-911F-95DA9130A117}" srcOrd="3" destOrd="0" presId="urn:microsoft.com/office/officeart/2018/2/layout/IconVerticalSolidList"/>
    <dgm:cxn modelId="{2DC219D3-BA12-4663-B9AF-72A92901228D}" type="presParOf" srcId="{B8B9A884-926D-4091-8728-0A0062075827}" destId="{1C72FFF7-9FE2-4621-BF48-D136D7C392D3}" srcOrd="1" destOrd="0" presId="urn:microsoft.com/office/officeart/2018/2/layout/IconVerticalSolidList"/>
    <dgm:cxn modelId="{9D08678A-C4D7-4E69-8B4A-F116A9A97A37}" type="presParOf" srcId="{B8B9A884-926D-4091-8728-0A0062075827}" destId="{AAD7A0EE-B313-4AA7-A8FC-F4FCD4320495}" srcOrd="2" destOrd="0" presId="urn:microsoft.com/office/officeart/2018/2/layout/IconVerticalSolidList"/>
    <dgm:cxn modelId="{9DC52549-D655-4CEC-9C3F-4B9F8AD91EA2}" type="presParOf" srcId="{AAD7A0EE-B313-4AA7-A8FC-F4FCD4320495}" destId="{9377A0E6-BAA2-404A-B730-3E46891D52D5}" srcOrd="0" destOrd="0" presId="urn:microsoft.com/office/officeart/2018/2/layout/IconVerticalSolidList"/>
    <dgm:cxn modelId="{7391AF98-19AD-481F-BBF5-723F749E5279}" type="presParOf" srcId="{AAD7A0EE-B313-4AA7-A8FC-F4FCD4320495}" destId="{C0AC3927-0E65-40AC-9968-E76511072913}" srcOrd="1" destOrd="0" presId="urn:microsoft.com/office/officeart/2018/2/layout/IconVerticalSolidList"/>
    <dgm:cxn modelId="{6C56AAD6-6BB3-4306-B9A6-212722811C73}" type="presParOf" srcId="{AAD7A0EE-B313-4AA7-A8FC-F4FCD4320495}" destId="{E3B94029-0F21-4F2D-B167-14CC6161E7BF}" srcOrd="2" destOrd="0" presId="urn:microsoft.com/office/officeart/2018/2/layout/IconVerticalSolidList"/>
    <dgm:cxn modelId="{54C7471D-C067-4DCC-AC08-1757F28EF0A9}" type="presParOf" srcId="{AAD7A0EE-B313-4AA7-A8FC-F4FCD4320495}" destId="{E2843B25-46DF-4A92-A769-99FAEF6C9D66}" srcOrd="3" destOrd="0" presId="urn:microsoft.com/office/officeart/2018/2/layout/IconVerticalSolidList"/>
    <dgm:cxn modelId="{2CBFF369-B368-4A36-BDB5-D26EC84F8CFD}" type="presParOf" srcId="{B8B9A884-926D-4091-8728-0A0062075827}" destId="{B9DF5920-335B-418A-82C2-CB7146AE657D}" srcOrd="3" destOrd="0" presId="urn:microsoft.com/office/officeart/2018/2/layout/IconVerticalSolidList"/>
    <dgm:cxn modelId="{AAE40E43-E485-49C3-9C25-192DEB0F376F}" type="presParOf" srcId="{B8B9A884-926D-4091-8728-0A0062075827}" destId="{2725EEC6-C32F-4370-8DBC-7D1C3198D65B}" srcOrd="4" destOrd="0" presId="urn:microsoft.com/office/officeart/2018/2/layout/IconVerticalSolidList"/>
    <dgm:cxn modelId="{8B8A4AFA-608E-46C4-9D19-0B8D9B84220D}" type="presParOf" srcId="{2725EEC6-C32F-4370-8DBC-7D1C3198D65B}" destId="{81F5D05D-2C35-40E6-B60A-3C0C66845F12}" srcOrd="0" destOrd="0" presId="urn:microsoft.com/office/officeart/2018/2/layout/IconVerticalSolidList"/>
    <dgm:cxn modelId="{C221671C-5554-4E96-8B48-FC7254733F59}" type="presParOf" srcId="{2725EEC6-C32F-4370-8DBC-7D1C3198D65B}" destId="{E61EE1A9-ECA3-4B3B-9F53-1A4653E73451}" srcOrd="1" destOrd="0" presId="urn:microsoft.com/office/officeart/2018/2/layout/IconVerticalSolidList"/>
    <dgm:cxn modelId="{655AAF0F-7048-4E42-AD83-0F8AC61B7DAC}" type="presParOf" srcId="{2725EEC6-C32F-4370-8DBC-7D1C3198D65B}" destId="{B2769C9D-F0F0-41E1-AD5C-F8C0327DCD83}" srcOrd="2" destOrd="0" presId="urn:microsoft.com/office/officeart/2018/2/layout/IconVerticalSolidList"/>
    <dgm:cxn modelId="{BCEEBA2D-3EF4-4B57-9218-1D99AEBF3C78}" type="presParOf" srcId="{2725EEC6-C32F-4370-8DBC-7D1C3198D65B}" destId="{F0B623A5-F85F-4B69-AFF1-57BF4A42721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8DF8136-A79F-45D6-A02C-7388746914B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EE8E2756-FC9E-4B54-B6EA-6BCFC795EA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1. Unified Marketing Campaign: </a:t>
          </a:r>
          <a:r>
            <a:rPr lang="en-US"/>
            <a:t>Since P-Value &gt; 0.05, use the same campaign for Consumer &amp; Corporate to save budget.</a:t>
          </a:r>
        </a:p>
      </dgm:t>
    </dgm:pt>
    <dgm:pt modelId="{D1E78235-FDC2-4AC1-9B67-3481B080B6FF}" type="parTrans" cxnId="{4AB7E277-6DFB-474F-8140-4A8F36EF886E}">
      <dgm:prSet/>
      <dgm:spPr/>
      <dgm:t>
        <a:bodyPr/>
        <a:lstStyle/>
        <a:p>
          <a:endParaRPr lang="en-US"/>
        </a:p>
      </dgm:t>
    </dgm:pt>
    <dgm:pt modelId="{8C25FCC7-4F12-4885-9AF4-C11CD0046A37}" type="sibTrans" cxnId="{4AB7E277-6DFB-474F-8140-4A8F36EF886E}">
      <dgm:prSet/>
      <dgm:spPr/>
      <dgm:t>
        <a:bodyPr/>
        <a:lstStyle/>
        <a:p>
          <a:endParaRPr lang="en-US"/>
        </a:p>
      </dgm:t>
    </dgm:pt>
    <dgm:pt modelId="{78451626-A281-40D7-A55F-0065F66D48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2. Targeted Win-Back: </a:t>
          </a:r>
          <a:r>
            <a:rPr lang="en-US"/>
            <a:t>Send automated discount emails to the 158 'Lost Customers' immediately.</a:t>
          </a:r>
        </a:p>
      </dgm:t>
    </dgm:pt>
    <dgm:pt modelId="{3F461ED9-6C89-4BE3-86B0-313C642B7077}" type="parTrans" cxnId="{52F43A21-D718-4425-AD29-FE7CC8B47EF7}">
      <dgm:prSet/>
      <dgm:spPr/>
      <dgm:t>
        <a:bodyPr/>
        <a:lstStyle/>
        <a:p>
          <a:endParaRPr lang="en-US"/>
        </a:p>
      </dgm:t>
    </dgm:pt>
    <dgm:pt modelId="{ECA6912A-7FC9-4FBE-BB36-28CA2D964142}" type="sibTrans" cxnId="{52F43A21-D718-4425-AD29-FE7CC8B47EF7}">
      <dgm:prSet/>
      <dgm:spPr/>
      <dgm:t>
        <a:bodyPr/>
        <a:lstStyle/>
        <a:p>
          <a:endParaRPr lang="en-US"/>
        </a:p>
      </dgm:t>
    </dgm:pt>
    <dgm:pt modelId="{79EDDE1C-1D1E-4751-B236-1288F4B5A6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3. Regional Focus: </a:t>
          </a:r>
          <a:r>
            <a:rPr lang="en-US"/>
            <a:t>Increase ad spend by 20% in the West Region to maximize high ROI.</a:t>
          </a:r>
        </a:p>
      </dgm:t>
    </dgm:pt>
    <dgm:pt modelId="{14D548C9-E34A-4E7B-968D-6C0645F81E9B}" type="parTrans" cxnId="{C0A9CC01-9E30-4327-808B-347A72A9E15A}">
      <dgm:prSet/>
      <dgm:spPr/>
      <dgm:t>
        <a:bodyPr/>
        <a:lstStyle/>
        <a:p>
          <a:endParaRPr lang="en-US"/>
        </a:p>
      </dgm:t>
    </dgm:pt>
    <dgm:pt modelId="{61D90767-DAC4-47E3-87B5-10449607F2DD}" type="sibTrans" cxnId="{C0A9CC01-9E30-4327-808B-347A72A9E15A}">
      <dgm:prSet/>
      <dgm:spPr/>
      <dgm:t>
        <a:bodyPr/>
        <a:lstStyle/>
        <a:p>
          <a:endParaRPr lang="en-US"/>
        </a:p>
      </dgm:t>
    </dgm:pt>
    <dgm:pt modelId="{7E7ED1B9-3C58-4C58-A1A6-330CA7088F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4. Loyalty Program: </a:t>
          </a:r>
          <a:r>
            <a:rPr lang="en-US"/>
            <a:t>Launch 'Apex Elite Club' for the 35 Best Customers to ensure retention.</a:t>
          </a:r>
        </a:p>
      </dgm:t>
    </dgm:pt>
    <dgm:pt modelId="{3826A5BF-D9D0-4E80-83C6-B341115F3410}" type="parTrans" cxnId="{0150AF6F-7C3B-4A84-B7D7-3EC6D3DBEF78}">
      <dgm:prSet/>
      <dgm:spPr/>
      <dgm:t>
        <a:bodyPr/>
        <a:lstStyle/>
        <a:p>
          <a:endParaRPr lang="en-US"/>
        </a:p>
      </dgm:t>
    </dgm:pt>
    <dgm:pt modelId="{4138F994-A327-4AF9-96EA-C0E41432D750}" type="sibTrans" cxnId="{0150AF6F-7C3B-4A84-B7D7-3EC6D3DBEF78}">
      <dgm:prSet/>
      <dgm:spPr/>
      <dgm:t>
        <a:bodyPr/>
        <a:lstStyle/>
        <a:p>
          <a:endParaRPr lang="en-US"/>
        </a:p>
      </dgm:t>
    </dgm:pt>
    <dgm:pt modelId="{98C41E5C-5E37-4424-B52E-86026FDAC86E}" type="pres">
      <dgm:prSet presAssocID="{78DF8136-A79F-45D6-A02C-7388746914BE}" presName="root" presStyleCnt="0">
        <dgm:presLayoutVars>
          <dgm:dir/>
          <dgm:resizeHandles val="exact"/>
        </dgm:presLayoutVars>
      </dgm:prSet>
      <dgm:spPr/>
    </dgm:pt>
    <dgm:pt modelId="{223C741E-53CB-4644-926E-2E80A778DA4A}" type="pres">
      <dgm:prSet presAssocID="{EE8E2756-FC9E-4B54-B6EA-6BCFC795EAEB}" presName="compNode" presStyleCnt="0"/>
      <dgm:spPr/>
    </dgm:pt>
    <dgm:pt modelId="{4D19AC9B-6402-4379-BEB6-E3DEE76B7AA8}" type="pres">
      <dgm:prSet presAssocID="{EE8E2756-FC9E-4B54-B6EA-6BCFC795EAEB}" presName="bgRect" presStyleLbl="bgShp" presStyleIdx="0" presStyleCnt="4"/>
      <dgm:spPr/>
    </dgm:pt>
    <dgm:pt modelId="{1CBF0275-CAB4-43F6-AEC4-A9E007817DBB}" type="pres">
      <dgm:prSet presAssocID="{EE8E2756-FC9E-4B54-B6EA-6BCFC795EAE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ising"/>
        </a:ext>
      </dgm:extLst>
    </dgm:pt>
    <dgm:pt modelId="{9F0F1BFD-2CEB-4A86-AF01-5BA8459EEA7E}" type="pres">
      <dgm:prSet presAssocID="{EE8E2756-FC9E-4B54-B6EA-6BCFC795EAEB}" presName="spaceRect" presStyleCnt="0"/>
      <dgm:spPr/>
    </dgm:pt>
    <dgm:pt modelId="{48E7FA3F-3121-4494-A86B-073908925AF0}" type="pres">
      <dgm:prSet presAssocID="{EE8E2756-FC9E-4B54-B6EA-6BCFC795EAEB}" presName="parTx" presStyleLbl="revTx" presStyleIdx="0" presStyleCnt="4">
        <dgm:presLayoutVars>
          <dgm:chMax val="0"/>
          <dgm:chPref val="0"/>
        </dgm:presLayoutVars>
      </dgm:prSet>
      <dgm:spPr/>
    </dgm:pt>
    <dgm:pt modelId="{5BF5A0DB-2101-48CE-B44E-7C89CDEED402}" type="pres">
      <dgm:prSet presAssocID="{8C25FCC7-4F12-4885-9AF4-C11CD0046A37}" presName="sibTrans" presStyleCnt="0"/>
      <dgm:spPr/>
    </dgm:pt>
    <dgm:pt modelId="{641FBAFC-3A44-4F41-9C0F-AAEF599824BE}" type="pres">
      <dgm:prSet presAssocID="{78451626-A281-40D7-A55F-0065F66D485B}" presName="compNode" presStyleCnt="0"/>
      <dgm:spPr/>
    </dgm:pt>
    <dgm:pt modelId="{B007845C-F2F5-4AC8-9E8A-4E8FF6ED329B}" type="pres">
      <dgm:prSet presAssocID="{78451626-A281-40D7-A55F-0065F66D485B}" presName="bgRect" presStyleLbl="bgShp" presStyleIdx="1" presStyleCnt="4"/>
      <dgm:spPr/>
    </dgm:pt>
    <dgm:pt modelId="{0554BB7B-AA9D-43A0-A1E9-8B6BB97F8BE7}" type="pres">
      <dgm:prSet presAssocID="{78451626-A281-40D7-A55F-0065F66D485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2220C6B3-461C-48A6-A6B8-2306FB6A8295}" type="pres">
      <dgm:prSet presAssocID="{78451626-A281-40D7-A55F-0065F66D485B}" presName="spaceRect" presStyleCnt="0"/>
      <dgm:spPr/>
    </dgm:pt>
    <dgm:pt modelId="{BC10BF74-661A-4469-ADE8-EF9960BFB23C}" type="pres">
      <dgm:prSet presAssocID="{78451626-A281-40D7-A55F-0065F66D485B}" presName="parTx" presStyleLbl="revTx" presStyleIdx="1" presStyleCnt="4">
        <dgm:presLayoutVars>
          <dgm:chMax val="0"/>
          <dgm:chPref val="0"/>
        </dgm:presLayoutVars>
      </dgm:prSet>
      <dgm:spPr/>
    </dgm:pt>
    <dgm:pt modelId="{7072C51A-F16B-45A2-B6FC-7F8D5EE1207C}" type="pres">
      <dgm:prSet presAssocID="{ECA6912A-7FC9-4FBE-BB36-28CA2D964142}" presName="sibTrans" presStyleCnt="0"/>
      <dgm:spPr/>
    </dgm:pt>
    <dgm:pt modelId="{57F29B04-A910-41FA-9B8D-53C21EE35BDB}" type="pres">
      <dgm:prSet presAssocID="{79EDDE1C-1D1E-4751-B236-1288F4B5A6C2}" presName="compNode" presStyleCnt="0"/>
      <dgm:spPr/>
    </dgm:pt>
    <dgm:pt modelId="{06B7588A-A8D7-4F62-9620-2205F5617FA5}" type="pres">
      <dgm:prSet presAssocID="{79EDDE1C-1D1E-4751-B236-1288F4B5A6C2}" presName="bgRect" presStyleLbl="bgShp" presStyleIdx="2" presStyleCnt="4"/>
      <dgm:spPr/>
    </dgm:pt>
    <dgm:pt modelId="{7A41F37C-F236-4C6B-98AC-D558B3C03D60}" type="pres">
      <dgm:prSet presAssocID="{79EDDE1C-1D1E-4751-B236-1288F4B5A6C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A0EC4B10-DD8D-4CDB-AD02-C923EE307935}" type="pres">
      <dgm:prSet presAssocID="{79EDDE1C-1D1E-4751-B236-1288F4B5A6C2}" presName="spaceRect" presStyleCnt="0"/>
      <dgm:spPr/>
    </dgm:pt>
    <dgm:pt modelId="{DEAE02D7-5573-46B0-B7E8-6B5F7D695ABC}" type="pres">
      <dgm:prSet presAssocID="{79EDDE1C-1D1E-4751-B236-1288F4B5A6C2}" presName="parTx" presStyleLbl="revTx" presStyleIdx="2" presStyleCnt="4">
        <dgm:presLayoutVars>
          <dgm:chMax val="0"/>
          <dgm:chPref val="0"/>
        </dgm:presLayoutVars>
      </dgm:prSet>
      <dgm:spPr/>
    </dgm:pt>
    <dgm:pt modelId="{44F80668-8B86-4C41-A7A2-2DAE7D626AC9}" type="pres">
      <dgm:prSet presAssocID="{61D90767-DAC4-47E3-87B5-10449607F2DD}" presName="sibTrans" presStyleCnt="0"/>
      <dgm:spPr/>
    </dgm:pt>
    <dgm:pt modelId="{C895B089-C197-4817-BB14-26797F695C1D}" type="pres">
      <dgm:prSet presAssocID="{7E7ED1B9-3C58-4C58-A1A6-330CA7088F2F}" presName="compNode" presStyleCnt="0"/>
      <dgm:spPr/>
    </dgm:pt>
    <dgm:pt modelId="{D5D56212-7612-44BC-A258-98D4B9847366}" type="pres">
      <dgm:prSet presAssocID="{7E7ED1B9-3C58-4C58-A1A6-330CA7088F2F}" presName="bgRect" presStyleLbl="bgShp" presStyleIdx="3" presStyleCnt="4"/>
      <dgm:spPr/>
    </dgm:pt>
    <dgm:pt modelId="{14361987-2DE4-41CF-BF9E-937FCB9E5E37}" type="pres">
      <dgm:prSet presAssocID="{7E7ED1B9-3C58-4C58-A1A6-330CA7088F2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t Air Balloon"/>
        </a:ext>
      </dgm:extLst>
    </dgm:pt>
    <dgm:pt modelId="{F4EA872D-C2F9-4FE0-A482-A86B94CCA1CF}" type="pres">
      <dgm:prSet presAssocID="{7E7ED1B9-3C58-4C58-A1A6-330CA7088F2F}" presName="spaceRect" presStyleCnt="0"/>
      <dgm:spPr/>
    </dgm:pt>
    <dgm:pt modelId="{431E271F-8E89-4539-9C52-452307F85521}" type="pres">
      <dgm:prSet presAssocID="{7E7ED1B9-3C58-4C58-A1A6-330CA7088F2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0A9CC01-9E30-4327-808B-347A72A9E15A}" srcId="{78DF8136-A79F-45D6-A02C-7388746914BE}" destId="{79EDDE1C-1D1E-4751-B236-1288F4B5A6C2}" srcOrd="2" destOrd="0" parTransId="{14D548C9-E34A-4E7B-968D-6C0645F81E9B}" sibTransId="{61D90767-DAC4-47E3-87B5-10449607F2DD}"/>
    <dgm:cxn modelId="{F543A80C-11C5-44DB-AF91-79A568BB0391}" type="presOf" srcId="{7E7ED1B9-3C58-4C58-A1A6-330CA7088F2F}" destId="{431E271F-8E89-4539-9C52-452307F85521}" srcOrd="0" destOrd="0" presId="urn:microsoft.com/office/officeart/2018/2/layout/IconVerticalSolidList"/>
    <dgm:cxn modelId="{52F43A21-D718-4425-AD29-FE7CC8B47EF7}" srcId="{78DF8136-A79F-45D6-A02C-7388746914BE}" destId="{78451626-A281-40D7-A55F-0065F66D485B}" srcOrd="1" destOrd="0" parTransId="{3F461ED9-6C89-4BE3-86B0-313C642B7077}" sibTransId="{ECA6912A-7FC9-4FBE-BB36-28CA2D964142}"/>
    <dgm:cxn modelId="{27EBCF5D-1024-4533-A110-83FC4C1AF343}" type="presOf" srcId="{78451626-A281-40D7-A55F-0065F66D485B}" destId="{BC10BF74-661A-4469-ADE8-EF9960BFB23C}" srcOrd="0" destOrd="0" presId="urn:microsoft.com/office/officeart/2018/2/layout/IconVerticalSolidList"/>
    <dgm:cxn modelId="{0150AF6F-7C3B-4A84-B7D7-3EC6D3DBEF78}" srcId="{78DF8136-A79F-45D6-A02C-7388746914BE}" destId="{7E7ED1B9-3C58-4C58-A1A6-330CA7088F2F}" srcOrd="3" destOrd="0" parTransId="{3826A5BF-D9D0-4E80-83C6-B341115F3410}" sibTransId="{4138F994-A327-4AF9-96EA-C0E41432D750}"/>
    <dgm:cxn modelId="{4AB7E277-6DFB-474F-8140-4A8F36EF886E}" srcId="{78DF8136-A79F-45D6-A02C-7388746914BE}" destId="{EE8E2756-FC9E-4B54-B6EA-6BCFC795EAEB}" srcOrd="0" destOrd="0" parTransId="{D1E78235-FDC2-4AC1-9B67-3481B080B6FF}" sibTransId="{8C25FCC7-4F12-4885-9AF4-C11CD0046A37}"/>
    <dgm:cxn modelId="{EA33BF98-A43D-4A87-800D-32F702EA7BE5}" type="presOf" srcId="{79EDDE1C-1D1E-4751-B236-1288F4B5A6C2}" destId="{DEAE02D7-5573-46B0-B7E8-6B5F7D695ABC}" srcOrd="0" destOrd="0" presId="urn:microsoft.com/office/officeart/2018/2/layout/IconVerticalSolidList"/>
    <dgm:cxn modelId="{D5866CB9-6641-4440-B313-1E050C14DDAB}" type="presOf" srcId="{EE8E2756-FC9E-4B54-B6EA-6BCFC795EAEB}" destId="{48E7FA3F-3121-4494-A86B-073908925AF0}" srcOrd="0" destOrd="0" presId="urn:microsoft.com/office/officeart/2018/2/layout/IconVerticalSolidList"/>
    <dgm:cxn modelId="{948529E0-BAAE-44B5-9BD7-6328923B4EB4}" type="presOf" srcId="{78DF8136-A79F-45D6-A02C-7388746914BE}" destId="{98C41E5C-5E37-4424-B52E-86026FDAC86E}" srcOrd="0" destOrd="0" presId="urn:microsoft.com/office/officeart/2018/2/layout/IconVerticalSolidList"/>
    <dgm:cxn modelId="{D1844DB7-E9C7-4E02-8CF3-FD1271B12544}" type="presParOf" srcId="{98C41E5C-5E37-4424-B52E-86026FDAC86E}" destId="{223C741E-53CB-4644-926E-2E80A778DA4A}" srcOrd="0" destOrd="0" presId="urn:microsoft.com/office/officeart/2018/2/layout/IconVerticalSolidList"/>
    <dgm:cxn modelId="{FD4E6D0B-A5E2-4170-9DF7-F0AB3CA1047C}" type="presParOf" srcId="{223C741E-53CB-4644-926E-2E80A778DA4A}" destId="{4D19AC9B-6402-4379-BEB6-E3DEE76B7AA8}" srcOrd="0" destOrd="0" presId="urn:microsoft.com/office/officeart/2018/2/layout/IconVerticalSolidList"/>
    <dgm:cxn modelId="{C75684BA-5EC0-46A3-AD19-0CDA68B103D3}" type="presParOf" srcId="{223C741E-53CB-4644-926E-2E80A778DA4A}" destId="{1CBF0275-CAB4-43F6-AEC4-A9E007817DBB}" srcOrd="1" destOrd="0" presId="urn:microsoft.com/office/officeart/2018/2/layout/IconVerticalSolidList"/>
    <dgm:cxn modelId="{9B09683E-2CE2-40EE-ACF4-E95112892AAF}" type="presParOf" srcId="{223C741E-53CB-4644-926E-2E80A778DA4A}" destId="{9F0F1BFD-2CEB-4A86-AF01-5BA8459EEA7E}" srcOrd="2" destOrd="0" presId="urn:microsoft.com/office/officeart/2018/2/layout/IconVerticalSolidList"/>
    <dgm:cxn modelId="{42DEEA28-231A-4051-B526-E4009203416B}" type="presParOf" srcId="{223C741E-53CB-4644-926E-2E80A778DA4A}" destId="{48E7FA3F-3121-4494-A86B-073908925AF0}" srcOrd="3" destOrd="0" presId="urn:microsoft.com/office/officeart/2018/2/layout/IconVerticalSolidList"/>
    <dgm:cxn modelId="{D95427D1-A20D-4E1F-90C4-0C99DF0D182D}" type="presParOf" srcId="{98C41E5C-5E37-4424-B52E-86026FDAC86E}" destId="{5BF5A0DB-2101-48CE-B44E-7C89CDEED402}" srcOrd="1" destOrd="0" presId="urn:microsoft.com/office/officeart/2018/2/layout/IconVerticalSolidList"/>
    <dgm:cxn modelId="{6CE89EEE-AEA7-4167-9C21-4DEAB48524F8}" type="presParOf" srcId="{98C41E5C-5E37-4424-B52E-86026FDAC86E}" destId="{641FBAFC-3A44-4F41-9C0F-AAEF599824BE}" srcOrd="2" destOrd="0" presId="urn:microsoft.com/office/officeart/2018/2/layout/IconVerticalSolidList"/>
    <dgm:cxn modelId="{49961141-6D5C-43A9-9EFA-FF5EA040A56E}" type="presParOf" srcId="{641FBAFC-3A44-4F41-9C0F-AAEF599824BE}" destId="{B007845C-F2F5-4AC8-9E8A-4E8FF6ED329B}" srcOrd="0" destOrd="0" presId="urn:microsoft.com/office/officeart/2018/2/layout/IconVerticalSolidList"/>
    <dgm:cxn modelId="{9E8E7D9D-9315-4978-B226-6F0BF23FF45E}" type="presParOf" srcId="{641FBAFC-3A44-4F41-9C0F-AAEF599824BE}" destId="{0554BB7B-AA9D-43A0-A1E9-8B6BB97F8BE7}" srcOrd="1" destOrd="0" presId="urn:microsoft.com/office/officeart/2018/2/layout/IconVerticalSolidList"/>
    <dgm:cxn modelId="{6EC47F90-C98E-4F4F-8779-9C5F0A632ADA}" type="presParOf" srcId="{641FBAFC-3A44-4F41-9C0F-AAEF599824BE}" destId="{2220C6B3-461C-48A6-A6B8-2306FB6A8295}" srcOrd="2" destOrd="0" presId="urn:microsoft.com/office/officeart/2018/2/layout/IconVerticalSolidList"/>
    <dgm:cxn modelId="{143BFCB7-EEF6-444B-ABEF-36A638B26345}" type="presParOf" srcId="{641FBAFC-3A44-4F41-9C0F-AAEF599824BE}" destId="{BC10BF74-661A-4469-ADE8-EF9960BFB23C}" srcOrd="3" destOrd="0" presId="urn:microsoft.com/office/officeart/2018/2/layout/IconVerticalSolidList"/>
    <dgm:cxn modelId="{20B406F6-1FBC-4BA3-8B5E-486ED293B6F7}" type="presParOf" srcId="{98C41E5C-5E37-4424-B52E-86026FDAC86E}" destId="{7072C51A-F16B-45A2-B6FC-7F8D5EE1207C}" srcOrd="3" destOrd="0" presId="urn:microsoft.com/office/officeart/2018/2/layout/IconVerticalSolidList"/>
    <dgm:cxn modelId="{3B241EA3-640D-4367-909B-6CC2716E426D}" type="presParOf" srcId="{98C41E5C-5E37-4424-B52E-86026FDAC86E}" destId="{57F29B04-A910-41FA-9B8D-53C21EE35BDB}" srcOrd="4" destOrd="0" presId="urn:microsoft.com/office/officeart/2018/2/layout/IconVerticalSolidList"/>
    <dgm:cxn modelId="{D48734BB-1108-4754-8FF9-4AB6E0E919B6}" type="presParOf" srcId="{57F29B04-A910-41FA-9B8D-53C21EE35BDB}" destId="{06B7588A-A8D7-4F62-9620-2205F5617FA5}" srcOrd="0" destOrd="0" presId="urn:microsoft.com/office/officeart/2018/2/layout/IconVerticalSolidList"/>
    <dgm:cxn modelId="{D9589B40-CAF3-4277-8907-9B2EFCEF62E0}" type="presParOf" srcId="{57F29B04-A910-41FA-9B8D-53C21EE35BDB}" destId="{7A41F37C-F236-4C6B-98AC-D558B3C03D60}" srcOrd="1" destOrd="0" presId="urn:microsoft.com/office/officeart/2018/2/layout/IconVerticalSolidList"/>
    <dgm:cxn modelId="{8C5A7BCC-5A17-4296-A89A-FFD0AB325831}" type="presParOf" srcId="{57F29B04-A910-41FA-9B8D-53C21EE35BDB}" destId="{A0EC4B10-DD8D-4CDB-AD02-C923EE307935}" srcOrd="2" destOrd="0" presId="urn:microsoft.com/office/officeart/2018/2/layout/IconVerticalSolidList"/>
    <dgm:cxn modelId="{1AAD4638-C50D-405A-BC72-A3F566E28A59}" type="presParOf" srcId="{57F29B04-A910-41FA-9B8D-53C21EE35BDB}" destId="{DEAE02D7-5573-46B0-B7E8-6B5F7D695ABC}" srcOrd="3" destOrd="0" presId="urn:microsoft.com/office/officeart/2018/2/layout/IconVerticalSolidList"/>
    <dgm:cxn modelId="{869267F1-D0BE-4897-948E-5297300C8A60}" type="presParOf" srcId="{98C41E5C-5E37-4424-B52E-86026FDAC86E}" destId="{44F80668-8B86-4C41-A7A2-2DAE7D626AC9}" srcOrd="5" destOrd="0" presId="urn:microsoft.com/office/officeart/2018/2/layout/IconVerticalSolidList"/>
    <dgm:cxn modelId="{5CF38E88-75E0-4D80-AD00-3E51E9235863}" type="presParOf" srcId="{98C41E5C-5E37-4424-B52E-86026FDAC86E}" destId="{C895B089-C197-4817-BB14-26797F695C1D}" srcOrd="6" destOrd="0" presId="urn:microsoft.com/office/officeart/2018/2/layout/IconVerticalSolidList"/>
    <dgm:cxn modelId="{9743C6E5-D593-4DFD-93F1-C29F909DDFCA}" type="presParOf" srcId="{C895B089-C197-4817-BB14-26797F695C1D}" destId="{D5D56212-7612-44BC-A258-98D4B9847366}" srcOrd="0" destOrd="0" presId="urn:microsoft.com/office/officeart/2018/2/layout/IconVerticalSolidList"/>
    <dgm:cxn modelId="{77B88832-42B4-44B0-AC47-453909B94725}" type="presParOf" srcId="{C895B089-C197-4817-BB14-26797F695C1D}" destId="{14361987-2DE4-41CF-BF9E-937FCB9E5E37}" srcOrd="1" destOrd="0" presId="urn:microsoft.com/office/officeart/2018/2/layout/IconVerticalSolidList"/>
    <dgm:cxn modelId="{A5A3D642-EC9A-4D4F-B017-1F2A840212DA}" type="presParOf" srcId="{C895B089-C197-4817-BB14-26797F695C1D}" destId="{F4EA872D-C2F9-4FE0-A482-A86B94CCA1CF}" srcOrd="2" destOrd="0" presId="urn:microsoft.com/office/officeart/2018/2/layout/IconVerticalSolidList"/>
    <dgm:cxn modelId="{2D13457A-1125-453E-B989-CD22AB11431C}" type="presParOf" srcId="{C895B089-C197-4817-BB14-26797F695C1D}" destId="{431E271F-8E89-4539-9C52-452307F8552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E5177-986F-43FF-BCA0-8403D71DE078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92CBC3-1616-4976-AFB9-CEC01AF8BFC9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60870B-FB47-45EA-911F-95DA9130A117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Goal: </a:t>
          </a:r>
          <a:r>
            <a:rPr lang="en-US" sz="2500" kern="1200"/>
            <a:t>To analyze sales data ($2.26M) and identify revenue growth opportunities.</a:t>
          </a:r>
        </a:p>
      </dsp:txBody>
      <dsp:txXfrm>
        <a:off x="1493203" y="552"/>
        <a:ext cx="6736396" cy="1292816"/>
      </dsp:txXfrm>
    </dsp:sp>
    <dsp:sp modelId="{9377A0E6-BAA2-404A-B730-3E46891D52D5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AC3927-0E65-40AC-9968-E76511072913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843B25-46DF-4A92-A769-99FAEF6C9D66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Approach: </a:t>
          </a:r>
          <a:r>
            <a:rPr lang="en-US" sz="2500" kern="1200"/>
            <a:t>Used Python for Data Cleaning, RFM Segmentation, and Statistical Validation.</a:t>
          </a:r>
        </a:p>
      </dsp:txBody>
      <dsp:txXfrm>
        <a:off x="1493203" y="1616573"/>
        <a:ext cx="6736396" cy="1292816"/>
      </dsp:txXfrm>
    </dsp:sp>
    <dsp:sp modelId="{81F5D05D-2C35-40E6-B60A-3C0C66845F12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1EE1A9-ECA3-4B3B-9F53-1A4653E73451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B623A5-F85F-4B69-AFF1-57BF4A42721D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Outcome: </a:t>
          </a:r>
          <a:r>
            <a:rPr lang="en-US" sz="2500" kern="1200"/>
            <a:t>Provide data-driven recommendations to optimize marketing spend and reduce churn.</a:t>
          </a:r>
        </a:p>
      </dsp:txBody>
      <dsp:txXfrm>
        <a:off x="1493203" y="3232593"/>
        <a:ext cx="6736396" cy="12928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19AC9B-6402-4379-BEB6-E3DEE76B7AA8}">
      <dsp:nvSpPr>
        <dsp:cNvPr id="0" name=""/>
        <dsp:cNvSpPr/>
      </dsp:nvSpPr>
      <dsp:spPr>
        <a:xfrm>
          <a:off x="0" y="1806"/>
          <a:ext cx="7886700" cy="915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BF0275-CAB4-43F6-AEC4-A9E007817DBB}">
      <dsp:nvSpPr>
        <dsp:cNvPr id="0" name=""/>
        <dsp:cNvSpPr/>
      </dsp:nvSpPr>
      <dsp:spPr>
        <a:xfrm>
          <a:off x="276958" y="207808"/>
          <a:ext cx="503560" cy="5035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E7FA3F-3121-4494-A86B-073908925AF0}">
      <dsp:nvSpPr>
        <dsp:cNvPr id="0" name=""/>
        <dsp:cNvSpPr/>
      </dsp:nvSpPr>
      <dsp:spPr>
        <a:xfrm>
          <a:off x="1057476" y="1806"/>
          <a:ext cx="68292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1. Unified Marketing Campaign: </a:t>
          </a:r>
          <a:r>
            <a:rPr lang="en-US" sz="2000" kern="1200"/>
            <a:t>Since P-Value &gt; 0.05, use the same campaign for Consumer &amp; Corporate to save budget.</a:t>
          </a:r>
        </a:p>
      </dsp:txBody>
      <dsp:txXfrm>
        <a:off x="1057476" y="1806"/>
        <a:ext cx="6829223" cy="915564"/>
      </dsp:txXfrm>
    </dsp:sp>
    <dsp:sp modelId="{B007845C-F2F5-4AC8-9E8A-4E8FF6ED329B}">
      <dsp:nvSpPr>
        <dsp:cNvPr id="0" name=""/>
        <dsp:cNvSpPr/>
      </dsp:nvSpPr>
      <dsp:spPr>
        <a:xfrm>
          <a:off x="0" y="1146262"/>
          <a:ext cx="7886700" cy="915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54BB7B-AA9D-43A0-A1E9-8B6BB97F8BE7}">
      <dsp:nvSpPr>
        <dsp:cNvPr id="0" name=""/>
        <dsp:cNvSpPr/>
      </dsp:nvSpPr>
      <dsp:spPr>
        <a:xfrm>
          <a:off x="276958" y="1352264"/>
          <a:ext cx="503560" cy="5035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10BF74-661A-4469-ADE8-EF9960BFB23C}">
      <dsp:nvSpPr>
        <dsp:cNvPr id="0" name=""/>
        <dsp:cNvSpPr/>
      </dsp:nvSpPr>
      <dsp:spPr>
        <a:xfrm>
          <a:off x="1057476" y="1146262"/>
          <a:ext cx="68292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2. Targeted Win-Back: </a:t>
          </a:r>
          <a:r>
            <a:rPr lang="en-US" sz="2000" kern="1200"/>
            <a:t>Send automated discount emails to the 158 'Lost Customers' immediately.</a:t>
          </a:r>
        </a:p>
      </dsp:txBody>
      <dsp:txXfrm>
        <a:off x="1057476" y="1146262"/>
        <a:ext cx="6829223" cy="915564"/>
      </dsp:txXfrm>
    </dsp:sp>
    <dsp:sp modelId="{06B7588A-A8D7-4F62-9620-2205F5617FA5}">
      <dsp:nvSpPr>
        <dsp:cNvPr id="0" name=""/>
        <dsp:cNvSpPr/>
      </dsp:nvSpPr>
      <dsp:spPr>
        <a:xfrm>
          <a:off x="0" y="2290717"/>
          <a:ext cx="7886700" cy="915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41F37C-F236-4C6B-98AC-D558B3C03D60}">
      <dsp:nvSpPr>
        <dsp:cNvPr id="0" name=""/>
        <dsp:cNvSpPr/>
      </dsp:nvSpPr>
      <dsp:spPr>
        <a:xfrm>
          <a:off x="276958" y="2496719"/>
          <a:ext cx="503560" cy="5035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AE02D7-5573-46B0-B7E8-6B5F7D695ABC}">
      <dsp:nvSpPr>
        <dsp:cNvPr id="0" name=""/>
        <dsp:cNvSpPr/>
      </dsp:nvSpPr>
      <dsp:spPr>
        <a:xfrm>
          <a:off x="1057476" y="2290717"/>
          <a:ext cx="68292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3. Regional Focus: </a:t>
          </a:r>
          <a:r>
            <a:rPr lang="en-US" sz="2000" kern="1200"/>
            <a:t>Increase ad spend by 20% in the West Region to maximize high ROI.</a:t>
          </a:r>
        </a:p>
      </dsp:txBody>
      <dsp:txXfrm>
        <a:off x="1057476" y="2290717"/>
        <a:ext cx="6829223" cy="915564"/>
      </dsp:txXfrm>
    </dsp:sp>
    <dsp:sp modelId="{D5D56212-7612-44BC-A258-98D4B9847366}">
      <dsp:nvSpPr>
        <dsp:cNvPr id="0" name=""/>
        <dsp:cNvSpPr/>
      </dsp:nvSpPr>
      <dsp:spPr>
        <a:xfrm>
          <a:off x="0" y="3435173"/>
          <a:ext cx="7886700" cy="915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361987-2DE4-41CF-BF9E-937FCB9E5E37}">
      <dsp:nvSpPr>
        <dsp:cNvPr id="0" name=""/>
        <dsp:cNvSpPr/>
      </dsp:nvSpPr>
      <dsp:spPr>
        <a:xfrm>
          <a:off x="276958" y="3641175"/>
          <a:ext cx="503560" cy="5035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1E271F-8E89-4539-9C52-452307F85521}">
      <dsp:nvSpPr>
        <dsp:cNvPr id="0" name=""/>
        <dsp:cNvSpPr/>
      </dsp:nvSpPr>
      <dsp:spPr>
        <a:xfrm>
          <a:off x="1057476" y="3435173"/>
          <a:ext cx="68292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4. Loyalty Program: </a:t>
          </a:r>
          <a:r>
            <a:rPr lang="en-US" sz="2000" kern="1200"/>
            <a:t>Launch 'Apex Elite Club' for the 35 Best Customers to ensure retention.</a:t>
          </a:r>
        </a:p>
      </dsp:txBody>
      <dsp:txXfrm>
        <a:off x="1057476" y="3435173"/>
        <a:ext cx="6829223" cy="9155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afjalalam" TargetMode="External"/><Relationship Id="rId2" Type="http://schemas.openxmlformats.org/officeDocument/2006/relationships/hyperlink" Target="https://github.com/afjalalam09/ApexPlanet_Task4_Analysi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77F6211-79D8-32E3-7962-50FEA9F4B26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31379" cy="687273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EE3FB69-8C59-62CB-0BE8-D1B4B74B6A27}"/>
              </a:ext>
            </a:extLst>
          </p:cNvPr>
          <p:cNvSpPr/>
          <p:nvPr/>
        </p:nvSpPr>
        <p:spPr>
          <a:xfrm>
            <a:off x="602118" y="1676400"/>
            <a:ext cx="6027282" cy="511629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4569CAC-4A67-07B8-04EA-EACD1484B3E6}"/>
              </a:ext>
            </a:extLst>
          </p:cNvPr>
          <p:cNvSpPr/>
          <p:nvPr/>
        </p:nvSpPr>
        <p:spPr>
          <a:xfrm>
            <a:off x="566057" y="206829"/>
            <a:ext cx="8218714" cy="718457"/>
          </a:xfrm>
          <a:prstGeom prst="round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9482" y="-181479"/>
            <a:ext cx="7772400" cy="1470025"/>
          </a:xfrm>
        </p:spPr>
        <p:txBody>
          <a:bodyPr/>
          <a:lstStyle/>
          <a:p>
            <a:r>
              <a:rPr lang="en-US" dirty="0"/>
              <a:t>Data Analytics Internship Project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7571" y="1676400"/>
            <a:ext cx="5921829" cy="71845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Sales Optimization &amp; Customer Segmentation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CFF12B4-1043-E1C4-4E64-59C71D4C2A46}"/>
              </a:ext>
            </a:extLst>
          </p:cNvPr>
          <p:cNvSpPr/>
          <p:nvPr/>
        </p:nvSpPr>
        <p:spPr>
          <a:xfrm>
            <a:off x="645661" y="3516086"/>
            <a:ext cx="3120796" cy="32112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838AAE-977C-7C25-4505-F006C3030BE7}"/>
              </a:ext>
            </a:extLst>
          </p:cNvPr>
          <p:cNvSpPr txBox="1"/>
          <p:nvPr/>
        </p:nvSpPr>
        <p:spPr>
          <a:xfrm>
            <a:off x="979714" y="3722914"/>
            <a:ext cx="257991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Presented By: </a:t>
            </a:r>
            <a:r>
              <a:rPr lang="en-US" sz="3200" b="1" dirty="0"/>
              <a:t>Afjal Alam</a:t>
            </a:r>
          </a:p>
          <a:p>
            <a:endParaRPr lang="en-US" sz="3200" dirty="0"/>
          </a:p>
          <a:p>
            <a:r>
              <a:rPr lang="en-US" sz="3200" dirty="0"/>
              <a:t>Data Analytics Intern | Apex Planet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Project Objective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9B50F5A-4871-EBF0-BF9C-F66AE98E3F2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rgbClr val="FFFFFF"/>
                </a:solidFill>
              </a:rPr>
              <a:t>Data Overview &amp; Processing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b="1"/>
              <a:t>Total Records Processed: </a:t>
            </a:r>
            <a:r>
              <a:rPr lang="en-US" sz="3000"/>
              <a:t>4,922 Orders</a:t>
            </a:r>
          </a:p>
          <a:p>
            <a:pPr>
              <a:lnSpc>
                <a:spcPct val="90000"/>
              </a:lnSpc>
            </a:pPr>
            <a:r>
              <a:rPr lang="en-US" sz="3000" b="1"/>
              <a:t>Total Revenue Generated: </a:t>
            </a:r>
            <a:r>
              <a:rPr lang="en-US" sz="3000"/>
              <a:t>$2.26 Million</a:t>
            </a:r>
          </a:p>
          <a:p>
            <a:pPr>
              <a:lnSpc>
                <a:spcPct val="90000"/>
              </a:lnSpc>
            </a:pPr>
            <a:r>
              <a:rPr lang="en-US" sz="3000" b="1"/>
              <a:t>Average Order Value: </a:t>
            </a:r>
            <a:r>
              <a:rPr lang="en-US" sz="3000"/>
              <a:t>$459.48</a:t>
            </a:r>
          </a:p>
          <a:p>
            <a:pPr>
              <a:lnSpc>
                <a:spcPct val="90000"/>
              </a:lnSpc>
            </a:pPr>
            <a:r>
              <a:rPr lang="en-US" sz="3000" b="1"/>
              <a:t>Active Customers: </a:t>
            </a:r>
            <a:r>
              <a:rPr lang="en-US" sz="3000"/>
              <a:t>793 Unique Customers</a:t>
            </a:r>
          </a:p>
          <a:p>
            <a:pPr>
              <a:lnSpc>
                <a:spcPct val="90000"/>
              </a:lnSpc>
            </a:pPr>
            <a:r>
              <a:rPr lang="en-US" sz="3000" b="1"/>
              <a:t>Data Quality: </a:t>
            </a:r>
            <a:r>
              <a:rPr lang="en-US" sz="3000"/>
              <a:t>Cleaned missing values and duplicates using Python (Pandas) to ensure accuracy.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US" sz="3100" b="1"/>
              <a:t>Key Sales Insights (Regional &amp; Category)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en-US" sz="1600" b="1"/>
              <a:t>Top Performing Region: </a:t>
            </a:r>
            <a:r>
              <a:rPr lang="en-US" sz="1600"/>
              <a:t>The West Region contributes the highest revenue share.</a:t>
            </a:r>
          </a:p>
          <a:p>
            <a:r>
              <a:rPr lang="en-US" sz="1600" b="1"/>
              <a:t>Best Category: </a:t>
            </a:r>
            <a:r>
              <a:rPr lang="en-US" sz="1600"/>
              <a:t>'Technology' products have the highest profit margins.</a:t>
            </a:r>
          </a:p>
          <a:p>
            <a:r>
              <a:rPr lang="en-US" sz="1600" b="1"/>
              <a:t>Seasonal Trend: </a:t>
            </a:r>
            <a:r>
              <a:rPr lang="en-US" sz="1600"/>
              <a:t>Sales show a significant spike in Q4 (November-December).</a:t>
            </a:r>
          </a:p>
          <a:p>
            <a:r>
              <a:rPr lang="en-US" sz="1600" b="1"/>
              <a:t>Insight: </a:t>
            </a:r>
            <a:r>
              <a:rPr lang="en-US" sz="1600"/>
              <a:t>Resources should be allocated to capitalize on Q4 demand in the West.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BFDB6FF-248F-DA25-F203-A5FE8EEA9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8770"/>
            <a:ext cx="4725914" cy="30082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78E8D1-B3C6-040B-DE5A-526C91AEA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029" y="518770"/>
            <a:ext cx="4084323" cy="27719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31BF440-39FA-4087-84CC-2EEC0BBDA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FDC2E6-E817-7374-3466-12E1E3D278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72" b="-2"/>
          <a:stretch>
            <a:fillRect/>
          </a:stretch>
        </p:blipFill>
        <p:spPr>
          <a:xfrm>
            <a:off x="3662268" y="10"/>
            <a:ext cx="5481732" cy="336498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E1E64C-706D-F7CD-BE89-9D51FE0768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957" b="-2"/>
          <a:stretch>
            <a:fillRect/>
          </a:stretch>
        </p:blipFill>
        <p:spPr>
          <a:xfrm>
            <a:off x="3662268" y="3493008"/>
            <a:ext cx="5481732" cy="336499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1210305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0" y="3364992"/>
                </a:lnTo>
                <a:lnTo>
                  <a:pt x="62981" y="3295722"/>
                </a:lnTo>
                <a:cubicBezTo>
                  <a:pt x="684692" y="2543371"/>
                  <a:pt x="1098874" y="1539884"/>
                  <a:pt x="1192705" y="421793"/>
                </a:cubicBezTo>
                <a:close/>
              </a:path>
            </a:pathLst>
          </a:custGeom>
        </p:spPr>
      </p:pic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F04E4CBA-303B-48BD-8451-C2701CB0E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4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4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4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F6CA58B3-AFCC-4A40-9882-50D50808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65499" cy="6858000"/>
          </a:xfrm>
          <a:custGeom>
            <a:avLst/>
            <a:gdLst>
              <a:gd name="connsiteX0" fmla="*/ 0 w 6087332"/>
              <a:gd name="connsiteY0" fmla="*/ 0 h 6858000"/>
              <a:gd name="connsiteX1" fmla="*/ 4874355 w 6087332"/>
              <a:gd name="connsiteY1" fmla="*/ 0 h 6858000"/>
              <a:gd name="connsiteX2" fmla="*/ 4937337 w 6087332"/>
              <a:gd name="connsiteY2" fmla="*/ 69271 h 6858000"/>
              <a:gd name="connsiteX3" fmla="*/ 6087332 w 6087332"/>
              <a:gd name="connsiteY3" fmla="*/ 3429000 h 6858000"/>
              <a:gd name="connsiteX4" fmla="*/ 4937337 w 6087332"/>
              <a:gd name="connsiteY4" fmla="*/ 6788730 h 6858000"/>
              <a:gd name="connsiteX5" fmla="*/ 4874355 w 6087332"/>
              <a:gd name="connsiteY5" fmla="*/ 6858000 h 6858000"/>
              <a:gd name="connsiteX6" fmla="*/ 0 w 6087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7332" h="6858000">
                <a:moveTo>
                  <a:pt x="0" y="0"/>
                </a:moveTo>
                <a:lnTo>
                  <a:pt x="4874355" y="0"/>
                </a:lnTo>
                <a:lnTo>
                  <a:pt x="4937337" y="69271"/>
                </a:lnTo>
                <a:cubicBezTo>
                  <a:pt x="5647863" y="929100"/>
                  <a:pt x="6087332" y="2116944"/>
                  <a:pt x="6087332" y="3429000"/>
                </a:cubicBezTo>
                <a:cubicBezTo>
                  <a:pt x="6087332" y="4741056"/>
                  <a:pt x="5647863" y="5928900"/>
                  <a:pt x="4937337" y="6788730"/>
                </a:cubicBezTo>
                <a:lnTo>
                  <a:pt x="487435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042" y="859536"/>
            <a:ext cx="3624601" cy="1243584"/>
          </a:xfrm>
        </p:spPr>
        <p:txBody>
          <a:bodyPr>
            <a:normAutofit/>
          </a:bodyPr>
          <a:lstStyle/>
          <a:p>
            <a:r>
              <a:rPr lang="en-US" sz="3000" b="1"/>
              <a:t>RFM Customer Segmentation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7158" y="2194560"/>
            <a:ext cx="3669030" cy="18288"/>
          </a:xfrm>
          <a:prstGeom prst="rect">
            <a:avLst/>
          </a:prstGeom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00AE6B-AA30-4CF8-BA6F-339B780AD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7158" y="2194560"/>
            <a:ext cx="366903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042" y="2512611"/>
            <a:ext cx="3624602" cy="3664351"/>
          </a:xfrm>
        </p:spPr>
        <p:txBody>
          <a:bodyPr>
            <a:normAutofit/>
          </a:bodyPr>
          <a:lstStyle/>
          <a:p>
            <a:r>
              <a:rPr lang="en-US" sz="1700" b="1"/>
              <a:t>Methodology: </a:t>
            </a:r>
            <a:r>
              <a:rPr lang="en-US" sz="1700"/>
              <a:t>Scored customers on Recency, Frequency, and Monetary value (1-4 scale).</a:t>
            </a:r>
          </a:p>
          <a:p>
            <a:r>
              <a:rPr lang="en-US" sz="1700" b="1"/>
              <a:t>Best Customers (35): </a:t>
            </a:r>
            <a:r>
              <a:rPr lang="en-US" sz="1700"/>
              <a:t>High spending, frequent buyers. Strategy: VIP Rewards.</a:t>
            </a:r>
          </a:p>
          <a:p>
            <a:r>
              <a:rPr lang="en-US" sz="1700" b="1"/>
              <a:t>Lost Customers (158): </a:t>
            </a:r>
            <a:r>
              <a:rPr lang="en-US" sz="1700"/>
              <a:t>Haven't bought recently. Strategy: Win-Back Campaigns.</a:t>
            </a:r>
          </a:p>
          <a:p>
            <a:r>
              <a:rPr lang="en-US" sz="1700" b="1"/>
              <a:t>Loyal Customers: </a:t>
            </a:r>
            <a:r>
              <a:rPr lang="en-US" sz="1700"/>
              <a:t>Frequent buyers with consistent spend. Strategy: Upselling.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US" sz="3100" b="1"/>
              <a:t>Hypothesis Testing (Scientific Proof)</a:t>
            </a:r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3EC2C2B1-379C-6832-F880-79A224C960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88" b="32318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 b="1"/>
              <a:t>Hypothesis: </a:t>
            </a:r>
            <a:r>
              <a:rPr lang="en-US" sz="1600"/>
              <a:t>'Is there a significant difference in spending between Consumer and Corporate segments?'</a:t>
            </a:r>
          </a:p>
          <a:p>
            <a:pPr>
              <a:lnSpc>
                <a:spcPct val="90000"/>
              </a:lnSpc>
            </a:pPr>
            <a:r>
              <a:rPr lang="en-US" sz="1600" b="1"/>
              <a:t>Test Performed: </a:t>
            </a:r>
            <a:r>
              <a:rPr lang="en-US" sz="1600"/>
              <a:t>Independent T-Test (using Scipy).</a:t>
            </a:r>
          </a:p>
          <a:p>
            <a:pPr>
              <a:lnSpc>
                <a:spcPct val="90000"/>
              </a:lnSpc>
            </a:pPr>
            <a:r>
              <a:rPr lang="en-US" sz="1600" b="1"/>
              <a:t>Results:</a:t>
            </a:r>
          </a:p>
          <a:p>
            <a:pPr>
              <a:lnSpc>
                <a:spcPct val="90000"/>
              </a:lnSpc>
            </a:pPr>
            <a:r>
              <a:rPr lang="en-US" sz="1600"/>
              <a:t>    - T-Statistic: -0.5896</a:t>
            </a:r>
          </a:p>
          <a:p>
            <a:pPr>
              <a:lnSpc>
                <a:spcPct val="90000"/>
              </a:lnSpc>
            </a:pPr>
            <a:r>
              <a:rPr lang="en-US" sz="1600"/>
              <a:t>    - P-Value: 0.5555 (&gt; 0.05)</a:t>
            </a:r>
          </a:p>
          <a:p>
            <a:pPr>
              <a:lnSpc>
                <a:spcPct val="90000"/>
              </a:lnSpc>
            </a:pPr>
            <a:r>
              <a:rPr lang="en-US" sz="1600" b="1"/>
              <a:t>Conclusion: </a:t>
            </a:r>
            <a:r>
              <a:rPr lang="en-US" sz="1600"/>
              <a:t>FAIL TO REJECT Null Hypothesis.</a:t>
            </a:r>
          </a:p>
          <a:p>
            <a:pPr>
              <a:lnSpc>
                <a:spcPct val="90000"/>
              </a:lnSpc>
            </a:pPr>
            <a:r>
              <a:rPr lang="en-US" sz="1600" b="1"/>
              <a:t>Business Implication: </a:t>
            </a:r>
            <a:r>
              <a:rPr lang="en-US" sz="1600"/>
              <a:t>Both segments have similar spending habits. A unified marketing strategy is cost-effective.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 b="1"/>
              <a:t>Strategic Business Recommendations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5571C99-ABAB-09C3-2E8C-F47EFC2DB1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5695678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dirty="0"/>
              <a:t>This project demonstrates how Data Analytics leads to smarter business decisions.</a:t>
            </a: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b="1" dirty="0"/>
              <a:t>Connect with me:</a:t>
            </a:r>
            <a:endParaRPr lang="en-US" b="1" dirty="0"/>
          </a:p>
          <a:p>
            <a:pPr>
              <a:lnSpc>
                <a:spcPct val="90000"/>
              </a:lnSpc>
            </a:pPr>
            <a:r>
              <a:rPr b="1" dirty="0"/>
              <a:t>GitHub: </a:t>
            </a:r>
            <a:r>
              <a:rPr lang="en-US" dirty="0">
                <a:hlinkClick r:id="rId2"/>
              </a:rPr>
              <a:t>https://github.com/afjalalam09/ApexPlanet_Task4_Analysis</a:t>
            </a: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b="1" dirty="0"/>
              <a:t>LinkedIn: </a:t>
            </a:r>
            <a:r>
              <a:rPr lang="en-US" b="1" dirty="0">
                <a:hlinkClick r:id="rId3"/>
              </a:rPr>
              <a:t>linkedin.com/in/</a:t>
            </a:r>
            <a:r>
              <a:rPr lang="en-US" b="1" dirty="0" err="1">
                <a:hlinkClick r:id="rId3"/>
              </a:rPr>
              <a:t>afjalalam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429</Words>
  <Application>Microsoft Office PowerPoint</Application>
  <PresentationFormat>On-screen Show (4:3)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Data Analytics Internship Project</vt:lpstr>
      <vt:lpstr>Project Objective</vt:lpstr>
      <vt:lpstr>Data Overview &amp; Processing</vt:lpstr>
      <vt:lpstr>Key Sales Insights (Regional &amp; Category)</vt:lpstr>
      <vt:lpstr>RFM Customer Segmentation</vt:lpstr>
      <vt:lpstr>Hypothesis Testing (Scientific Proof)</vt:lpstr>
      <vt:lpstr>Strategic Business Recommendations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Afjal Alam</cp:lastModifiedBy>
  <cp:revision>7</cp:revision>
  <dcterms:created xsi:type="dcterms:W3CDTF">2013-01-27T09:14:16Z</dcterms:created>
  <dcterms:modified xsi:type="dcterms:W3CDTF">2026-01-19T17:38:14Z</dcterms:modified>
  <cp:category/>
</cp:coreProperties>
</file>